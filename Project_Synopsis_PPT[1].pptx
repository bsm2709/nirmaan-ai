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  <p:sldMasterId id="2147483686" r:id="rId4"/>
  </p:sldMasterIdLst>
  <p:notesMasterIdLst>
    <p:notesMasterId r:id="rId18"/>
  </p:notesMasterIdLst>
  <p:handoutMasterIdLst>
    <p:handoutMasterId r:id="rId19"/>
  </p:handoutMasterIdLst>
  <p:sldIdLst>
    <p:sldId id="25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91" r:id="rId15"/>
    <p:sldId id="293" r:id="rId16"/>
    <p:sldId id="29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23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E01"/>
    <a:srgbClr val="000000"/>
    <a:srgbClr val="585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7D5479-1108-4A2A-AE07-D4F0664F685B}" v="169" dt="2025-04-16T08:54:11.4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howGuides="1">
      <p:cViewPr varScale="1">
        <p:scale>
          <a:sx n="111" d="100"/>
          <a:sy n="111" d="100"/>
        </p:scale>
        <p:origin x="420" y="96"/>
      </p:cViewPr>
      <p:guideLst>
        <p:guide orient="horz" pos="1049"/>
        <p:guide pos="23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>
                <a:latin typeface="Futura Cyrillic Book" panose="020B0502020204020303" charset="0"/>
              </a:rPr>
              <a:pPr/>
              <a:t>9/22/2025</a:t>
            </a:fld>
            <a:endParaRPr lang="en-US">
              <a:latin typeface="Futura Cyrillic Book" panose="020B0502020204020303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>
                <a:latin typeface="Futura Cyrillic Book" panose="020B0502020204020303" charset="0"/>
              </a:rPr>
              <a:pPr/>
              <a:t>‹#›</a:t>
            </a:fld>
            <a:endParaRPr lang="en-US">
              <a:latin typeface="Futura Cyrillic Book" panose="020B050202020402030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413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0ECD8AD1-49EC-45F2-A2FF-1FE3195688C5}" type="datetimeFigureOut">
              <a:rPr lang="en-IN" smtClean="0"/>
              <a:pPr/>
              <a:t>22-09-2025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7782813F-5D25-4BB6-888C-4601F85758C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13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20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20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E18A2-924C-0D76-AB2C-1A998D94E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FB79D-7007-3FE9-5899-35FD6AD1E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99A1D-EDC4-F325-40D7-6CD7C6D71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28613-2756-328E-10E5-505D6933D1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769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F74C6-0A7C-9311-B91B-AB3E23381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7EC23-AB53-39F3-0D5E-6F22FF04D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96C841-F5F4-41C5-BEDE-5AC9B57C9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63EB6-5A5D-A0CF-BEBA-75BC1A4038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760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449D6-8ADE-1728-6CED-799E7567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84F22-5ECA-5162-7F37-108447AFC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15219-E9AD-DF89-4B2E-4DCD53019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01A07-64F4-0682-9C47-F92AC4AB7A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406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07347-BD56-D098-1D9B-CC5E523D5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2399A-6369-CA64-5B53-E55DA0EAE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EAF72-C26B-9342-5076-696F8BC3E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68E03-37E0-BD14-50BF-40D4FA693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283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2FC60-D2D3-31D0-A1BE-70AC854B7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92376-DD55-7D76-1614-EF22D3359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792C8-6D8F-E518-D03E-987701163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64376-A808-4E0C-A391-2AC66FCA76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912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DB8A8-E2E4-48A7-3BF0-A62A3CA1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2FFD84-070B-5F9A-2110-332E70D4C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637E4-EF56-8BEA-2305-DD9825C73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1269D-E632-76E9-2980-7BE73E528B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831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31572-E857-3E36-E726-4602FCB86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07338-6792-2B01-E36C-203C77243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116DB-19B0-4CED-B9C8-5EFE4B6FF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45ECF-44C0-BD95-4110-34DEBFAAE6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50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975C1-DFE7-A382-7DED-CC540C652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C6AC0-0135-91EC-AFB9-5F712F0CF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87507-39FF-4094-BEAF-50ABE1EE1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168D5-30A8-33B0-8A59-DCCA5BFDF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067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1DB37-D0F8-53B5-78F3-16D56192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40D804-3BF7-5128-01F5-7984EA404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E5A9A-4966-D05A-33B9-3C1514708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4BD44-37E6-1C55-F05C-D1DF1A671A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213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FDC09-C9A4-7687-17E8-59D391DCB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FDF4B-3A6C-4A0C-894A-06C001BA8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371DF-3188-07AC-C22E-A3BFFD80F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CA9E2-37B4-956A-0EC8-DDA3533D49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490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5B1A3-0996-FF78-5C58-202B95ACB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6EE9F8-759F-5B51-9A9D-FD59784D2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52F1FE-130A-0031-FD3F-452281DDF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48481-14D0-8161-750B-088C1913A4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48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35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274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944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969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99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80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400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401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121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400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2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36B80835-DEB3-4275-B379-2566D87801AD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95999-A99C-46D6-BFDA-AEFA180EA74F}" type="datetimeFigureOut">
              <a:rPr lang="en-US" smtClean="0"/>
              <a:pPr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4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2" y="-2"/>
            <a:ext cx="2462401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/>
          <p:cNvGrpSpPr/>
          <p:nvPr/>
        </p:nvGrpSpPr>
        <p:grpSpPr>
          <a:xfrm>
            <a:off x="135450" y="1550003"/>
            <a:ext cx="2167890" cy="3067685"/>
            <a:chOff x="230" y="2322"/>
            <a:chExt cx="3414" cy="4831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545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4" y="3872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971800" y="1614994"/>
            <a:ext cx="7772400" cy="860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IN" sz="4000" b="1" dirty="0"/>
              <a:t>“ AI-Based Delay Prediction and Transparency System for Public Project Management(Nirmaan.ai)”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81600" y="914400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/>
              <a:t> Project Phase 1 Synopsis Presentation on</a:t>
            </a:r>
          </a:p>
          <a:p>
            <a:pPr algn="ctr"/>
            <a:endParaRPr lang="en-IN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6096000" y="2475419"/>
            <a:ext cx="1424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Presented by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586578"/>
              </p:ext>
            </p:extLst>
          </p:nvPr>
        </p:nvGraphicFramePr>
        <p:xfrm>
          <a:off x="2780652" y="3061725"/>
          <a:ext cx="8136903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4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Group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USN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IN" sz="3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BASANAGOUDA METI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1AY22CS040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CHANDRASHEKARA SHIVACHARYA V M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1AY23CS402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CHINMAY K G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1AY22CS050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ADITYA S G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1AY22CS013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1680">
                <a:tc gridSpan="3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Guide Name: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Prof. </a:t>
                      </a:r>
                      <a:r>
                        <a:rPr lang="en-IN" dirty="0"/>
                        <a:t>SUPREETHA H </a:t>
                      </a:r>
                      <a:r>
                        <a:rPr lang="en-IN" dirty="0" err="1"/>
                        <a:t>H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Designation: 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Assistant Professor , Dept of CS&amp;E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>
          <a:xfrm>
            <a:off x="2780652" y="0"/>
            <a:ext cx="7620000" cy="914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400" b="1" dirty="0"/>
              <a:t>Department of Computer Science &amp; Engineering</a:t>
            </a:r>
            <a:endParaRPr lang="en-IN" sz="2400" dirty="0"/>
          </a:p>
          <a:p>
            <a:pPr algn="ctr"/>
            <a:r>
              <a:rPr lang="en-US" sz="2000" b="1" dirty="0"/>
              <a:t>Acharya Institute of Technology</a:t>
            </a:r>
            <a:endParaRPr lang="en-IN" sz="2000" dirty="0"/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aseline="0" dirty="0">
                <a:ea typeface="+mj-ea"/>
                <a:cs typeface="+mj-cs"/>
              </a:rPr>
              <a:t>Soladevanahalli,</a:t>
            </a:r>
            <a:r>
              <a:rPr lang="en-IN" sz="1600" dirty="0">
                <a:ea typeface="+mj-ea"/>
                <a:cs typeface="+mj-cs"/>
              </a:rPr>
              <a:t> Bengaluru 560 107</a:t>
            </a:r>
            <a:endParaRPr kumimoji="0" lang="en-IN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516583" y="152400"/>
            <a:ext cx="8865804" cy="1608745"/>
          </a:xfrm>
          <a:solidFill>
            <a:schemeClr val="accent2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br>
              <a:rPr lang="en-IN" sz="3200" dirty="0"/>
            </a:br>
            <a:br>
              <a:rPr lang="en-IN" sz="3200" dirty="0"/>
            </a:br>
            <a:r>
              <a:rPr lang="en-IN" sz="3600" dirty="0"/>
              <a:t>AI-Based Delay Prediction and Transparency System for Public Project Management (Nirmaan.ai)</a:t>
            </a:r>
            <a:br>
              <a:rPr lang="en-IN" sz="3200" dirty="0"/>
            </a:br>
            <a:br>
              <a:rPr lang="en-IN" sz="3600" dirty="0"/>
            </a:br>
            <a:endParaRPr lang="en-IN" sz="3600" b="1" dirty="0">
              <a:solidFill>
                <a:schemeClr val="bg1"/>
              </a:solidFill>
              <a:latin typeface="Calibri Body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516582" y="2028549"/>
            <a:ext cx="8608617" cy="4810760"/>
          </a:xfr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dirty="0"/>
              <a:t>1. Introduction</a:t>
            </a:r>
          </a:p>
          <a:p>
            <a:pPr marL="0" indent="0" algn="just">
              <a:buNone/>
            </a:pPr>
            <a:r>
              <a:rPr lang="en-IN" dirty="0"/>
              <a:t>2. Literature Survey</a:t>
            </a:r>
          </a:p>
          <a:p>
            <a:pPr marL="0" indent="0" algn="just">
              <a:buNone/>
            </a:pPr>
            <a:r>
              <a:rPr lang="en-IN" dirty="0"/>
              <a:t>3. Problem statement and Objectives</a:t>
            </a:r>
          </a:p>
          <a:p>
            <a:pPr marL="0" indent="0" algn="just">
              <a:buNone/>
            </a:pPr>
            <a:r>
              <a:rPr lang="en-IN" dirty="0"/>
              <a:t>4. Proposed Methodology</a:t>
            </a:r>
          </a:p>
          <a:p>
            <a:pPr marL="0" indent="0" algn="just">
              <a:buNone/>
            </a:pPr>
            <a:r>
              <a:rPr lang="en-IN" dirty="0"/>
              <a:t>5. Deliverables</a:t>
            </a:r>
          </a:p>
          <a:p>
            <a:pPr marL="0" indent="0" algn="just">
              <a:buNone/>
            </a:pPr>
            <a:r>
              <a:rPr lang="en-IN" dirty="0"/>
              <a:t>6. Individual Responsibilities among the group members </a:t>
            </a:r>
          </a:p>
          <a:p>
            <a:pPr marL="0" indent="0" algn="just">
              <a:buNone/>
            </a:pPr>
            <a:r>
              <a:rPr lang="en-IN" dirty="0"/>
              <a:t>7. Gantt Chart</a:t>
            </a:r>
          </a:p>
          <a:p>
            <a:pPr marL="0" indent="0" algn="just">
              <a:buNone/>
            </a:pPr>
            <a:r>
              <a:rPr lang="en-IN" dirty="0"/>
              <a:t>8. References</a:t>
            </a:r>
          </a:p>
          <a:p>
            <a:pPr algn="just"/>
            <a:endParaRPr lang="en-US" dirty="0"/>
          </a:p>
          <a:p>
            <a:pPr algn="just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70131-8769-C162-D291-6BB43D923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7F5834AA-6174-E54C-DF66-CB9486EE3C11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8C492BFC-3473-5C12-794A-A1328734E12E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C28CE1D3-B83E-121E-97EF-36FCA8E87233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CA5491F4-0AB7-BA28-E796-7AF44B5752EB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E58E31F6-4B6A-C73A-A6BD-12602AB2E8C4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8F738C13-9CD1-C5B5-CFB7-8F9AE2A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7AE20C7-3B54-6038-E5C7-62C4741D0B87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2906986-3521-411F-45BD-5FF234B0C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7726" y="311920"/>
            <a:ext cx="5182827" cy="1207770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b="1" dirty="0"/>
              <a:t>1. INTRODUCTION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9BF83CF-64D1-4CEB-6F11-3F0DED070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6584" y="2590800"/>
            <a:ext cx="8854454" cy="3932237"/>
          </a:xfr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/>
              <a:t>Public projects in India often face delays, overruns and opacity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/>
              <a:t>Nirmaan.ai provides transparent monitoring with role-based access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/>
              <a:t>ML-driven delay prediction + real-time dashboards + citizen feedback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0" indent="0" algn="just">
              <a:buNone/>
            </a:pPr>
            <a:endParaRPr lang="en-US" sz="2400" dirty="0">
              <a:solidFill>
                <a:schemeClr val="accent6"/>
              </a:solidFill>
              <a:highlight>
                <a:srgbClr val="000000"/>
              </a:highlight>
            </a:endParaRPr>
          </a:p>
          <a:p>
            <a:pPr marL="0" indent="0" algn="just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5900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7"/>
    </mc:Choice>
    <mc:Fallback xmlns="">
      <p:transition spd="slow" advTm="416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191B5-7077-7F9D-2900-76247F7E8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01A54A4C-A9FD-ADB6-5968-DDE1E96495ED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E75ABCA0-06E4-CCB5-25D2-BA5110B25138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26CD6D92-77AC-8666-D391-D55876B9372E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8F8ABA1C-BB78-60D5-B1D9-69478D93EFEE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047ED61F-2CA0-7366-1CF1-BFC9B3FCFC8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97B154EF-DD87-4DDF-7D58-032518D45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D79D291-BDA6-3E94-274B-49DBF5836F16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E4BEF36-0C32-2D6C-8E79-EF75760E4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732" y="67115"/>
            <a:ext cx="8853654" cy="728039"/>
          </a:xfrm>
          <a:solidFill>
            <a:schemeClr val="accent2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Calibri Body"/>
              </a:rPr>
              <a:t>2. LITERATURE SURVEY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3B41793-7E3D-1410-47A1-73DBA930B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0" y="1706563"/>
            <a:ext cx="8229600" cy="4205064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11D6C8-B069-AEDB-72A7-F439D402E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155177"/>
              </p:ext>
            </p:extLst>
          </p:nvPr>
        </p:nvGraphicFramePr>
        <p:xfrm>
          <a:off x="2512506" y="865783"/>
          <a:ext cx="8869880" cy="6054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239">
                  <a:extLst>
                    <a:ext uri="{9D8B030D-6E8A-4147-A177-3AD203B41FA5}">
                      <a16:colId xmlns:a16="http://schemas.microsoft.com/office/drawing/2014/main" val="3031133096"/>
                    </a:ext>
                  </a:extLst>
                </a:gridCol>
                <a:gridCol w="1641655">
                  <a:extLst>
                    <a:ext uri="{9D8B030D-6E8A-4147-A177-3AD203B41FA5}">
                      <a16:colId xmlns:a16="http://schemas.microsoft.com/office/drawing/2014/main" val="1934286308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2504696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037637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5965863"/>
                    </a:ext>
                  </a:extLst>
                </a:gridCol>
                <a:gridCol w="1933586">
                  <a:extLst>
                    <a:ext uri="{9D8B030D-6E8A-4147-A177-3AD203B41FA5}">
                      <a16:colId xmlns:a16="http://schemas.microsoft.com/office/drawing/2014/main" val="1280028463"/>
                    </a:ext>
                  </a:extLst>
                </a:gridCol>
              </a:tblGrid>
              <a:tr h="14680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Calibri (Body)"/>
                          <a:ea typeface="+mn-ea"/>
                          <a:cs typeface="+mn-cs"/>
                        </a:rPr>
                        <a:t>S.N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Calibri (Body)"/>
                          <a:ea typeface="+mn-ea"/>
                          <a:cs typeface="+mn-cs"/>
                        </a:rPr>
                        <a:t>Paper title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Calibri (Body)"/>
                          <a:ea typeface="+mn-ea"/>
                          <a:cs typeface="+mn-cs"/>
                        </a:rPr>
                        <a:t>Publication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Calibri (Body)"/>
                          <a:ea typeface="+mn-ea"/>
                          <a:cs typeface="+mn-cs"/>
                        </a:rPr>
                        <a:t>Name of the 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Calibri (Body)"/>
                          <a:ea typeface="+mn-ea"/>
                          <a:cs typeface="+mn-cs"/>
                        </a:rPr>
                        <a:t>Technical  Ideas / Algorithms discussed in the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Calibri (Body)"/>
                          <a:ea typeface="+mn-ea"/>
                          <a:cs typeface="+mn-cs"/>
                        </a:rPr>
                        <a:t>Shortfalls and solution provided in the proposed methodology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40503"/>
                  </a:ext>
                </a:extLst>
              </a:tr>
              <a:tr h="139830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libri (Body)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"Smart Infrastructure Monitoring using IoT and ML" </a:t>
                      </a:r>
                      <a:endParaRPr lang="en-IN" dirty="0">
                        <a:latin typeface="Calibri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IEEE Xplore, 2020</a:t>
                      </a:r>
                      <a:endParaRPr lang="en-IN" dirty="0">
                        <a:latin typeface="Calibri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Rahul Kumar, Sneha Jain</a:t>
                      </a:r>
                      <a:endParaRPr lang="en-IN" dirty="0">
                        <a:latin typeface="Calibri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IoT sensors for </a:t>
                      </a:r>
                      <a:r>
                        <a:rPr lang="en-IN" dirty="0" err="1"/>
                        <a:t>realtime</a:t>
                      </a:r>
                      <a:r>
                        <a:rPr lang="en-IN" dirty="0"/>
                        <a:t> data, ML-based risk analysis </a:t>
                      </a:r>
                      <a:endParaRPr lang="en-IN" sz="1800" dirty="0">
                        <a:latin typeface="Calibri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IN" dirty="0"/>
                        <a:t>Lacks public transparency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en-IN" dirty="0"/>
                        <a:t> - Does not involve citizen engagement</a:t>
                      </a:r>
                      <a:endParaRPr lang="en-IN" dirty="0">
                        <a:latin typeface="Calibri (Body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6102892"/>
                  </a:ext>
                </a:extLst>
              </a:tr>
              <a:tr h="139830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libri (Body)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 Lacks public transparency - Does not involve citizen engagement</a:t>
                      </a:r>
                      <a:endParaRPr lang="en-IN" dirty="0">
                        <a:latin typeface="Calibri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IJERT, 2019</a:t>
                      </a:r>
                      <a:endParaRPr lang="en-IN" dirty="0">
                        <a:latin typeface="Calibri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dirty="0"/>
                        <a:t>A. Dey, S. Raut, K. Mehta</a:t>
                      </a:r>
                      <a:endParaRPr lang="en-IN" dirty="0">
                        <a:latin typeface="Calibri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GPS-based geo-tagging and project updates via a web dashboard</a:t>
                      </a:r>
                      <a:endParaRPr lang="en-IN" dirty="0">
                        <a:latin typeface="Calibri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IN" dirty="0"/>
                        <a:t>Limited to private projects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en-IN" dirty="0"/>
                        <a:t> - No </a:t>
                      </a:r>
                      <a:r>
                        <a:rPr lang="en-IN" dirty="0" err="1"/>
                        <a:t>rolebased</a:t>
                      </a:r>
                      <a:r>
                        <a:rPr lang="en-IN" dirty="0"/>
                        <a:t> access or ML predictions</a:t>
                      </a:r>
                      <a:endParaRPr lang="en-IN" dirty="0">
                        <a:latin typeface="Calibri (Body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5147947"/>
                  </a:ext>
                </a:extLst>
              </a:tr>
              <a:tr h="166048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alibri (Body)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"Predicting Delays in Public Infrastructure Projects using ML" </a:t>
                      </a:r>
                      <a:endParaRPr lang="en-IN" dirty="0">
                        <a:latin typeface="Calibri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Springer, 2021</a:t>
                      </a:r>
                      <a:endParaRPr lang="en-IN" dirty="0">
                        <a:latin typeface="Calibri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K. Bansal, L. Sharma</a:t>
                      </a:r>
                      <a:endParaRPr lang="en-IN" dirty="0">
                        <a:latin typeface="Calibri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ML algorithms (Random Forest, SVM) for delay prediction based on past data</a:t>
                      </a:r>
                      <a:endParaRPr lang="en-IN" dirty="0">
                        <a:latin typeface="Calibri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IN" dirty="0"/>
                        <a:t>- No live project integration - Data not visualized for stakeholders</a:t>
                      </a:r>
                      <a:endParaRPr lang="en-IN" dirty="0">
                        <a:latin typeface="Calibri (Body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830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3825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CE3B9-70B5-C12B-8173-E1D564AF3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42CDF674-B903-C651-9485-60472524865F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E350FAF1-9D3C-2DD7-2D37-E2DFE012580D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AAED04E2-E6DE-D215-C813-40A85B6A2A30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55BDF708-F641-BC47-B249-2CC1E30A6A9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1C6C5A9D-2C48-201F-6B38-F1B3BEC4B955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799AA383-F4B7-DA57-988F-13D5B40F6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BFF8F8F-3060-61C0-7033-8BA6CEAE1CD6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5F8ADC8-E526-6BD1-D994-5624E4986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28600"/>
            <a:ext cx="8229600" cy="1143000"/>
          </a:xfr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Calibri Body"/>
              </a:rPr>
              <a:t>3. PROBLEM STATEMENT &amp; OBJECTIVES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F3CF4BE-9305-F1CF-8F16-CD1B94275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0" y="1666240"/>
            <a:ext cx="8229600" cy="4596224"/>
          </a:xfr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400" b="1" dirty="0"/>
              <a:t>Problem Statement:</a:t>
            </a:r>
            <a:endParaRPr lang="en-US" sz="3400" dirty="0"/>
          </a:p>
          <a:p>
            <a:r>
              <a:rPr lang="en-IN" dirty="0"/>
              <a:t>Delays, budget overruns, poor monitoring and limited transparency</a:t>
            </a:r>
          </a:p>
          <a:p>
            <a:r>
              <a:rPr lang="en-IN" dirty="0"/>
              <a:t>Lack of real-time oversight and public engagement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3400" b="1" dirty="0"/>
              <a:t>Objectives:</a:t>
            </a:r>
            <a:endParaRPr lang="en-US" sz="3400" dirty="0"/>
          </a:p>
          <a:p>
            <a:r>
              <a:rPr lang="en-IN" dirty="0"/>
              <a:t>Real-time tracking and geo-tagged map views </a:t>
            </a:r>
            <a:endParaRPr lang="en-US" dirty="0"/>
          </a:p>
          <a:p>
            <a:r>
              <a:rPr lang="en-IN" dirty="0"/>
              <a:t>ML-based delay risk prediction (≥85% accuracy on train set)</a:t>
            </a:r>
          </a:p>
          <a:p>
            <a:r>
              <a:rPr lang="en-IN" dirty="0"/>
              <a:t>Role-based dashboards (admin/official/citizen)</a:t>
            </a:r>
          </a:p>
          <a:p>
            <a:r>
              <a:rPr lang="en-IN" dirty="0"/>
              <a:t>Public transparency and feedback</a:t>
            </a:r>
          </a:p>
          <a:p>
            <a:r>
              <a:rPr lang="en-IN" dirty="0"/>
              <a:t>Centralized reporting and secure JWT auth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561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A9E5-8CF5-B5D4-84BA-67E521CA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65744E57-2A26-7AFB-2BE6-8A482EDA17C8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58AC264C-D43F-8506-C4B2-0966D3F01B13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C63568BD-21ED-F24E-C11D-8C620FFD5630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7F60B3BD-B0C8-0BA5-30A4-BC1CF57FA43F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0F64DC7B-EC75-0558-94F4-839BE8CF72D9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876CBA86-574C-260F-2A78-D23D17598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E8EA56A-E50A-D453-02BD-4BC39703B98C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A43D123-6F99-2B3F-CE5B-FAE3FEB85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381000"/>
            <a:ext cx="8229600" cy="1143000"/>
          </a:xfr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4. PROPOSED METHODOLOGY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FBB8C5E-7F3D-C5C5-5EDE-00388B056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9587" y="1219200"/>
            <a:ext cx="8229600" cy="4205064"/>
          </a:xfr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IN" sz="2400" b="1" dirty="0"/>
          </a:p>
          <a:p>
            <a:r>
              <a:rPr lang="en-IN" sz="2400" dirty="0"/>
              <a:t>Project data input, geo-tagging and dashboards.</a:t>
            </a:r>
          </a:p>
          <a:p>
            <a:r>
              <a:rPr lang="da-DK" sz="2400" dirty="0"/>
              <a:t>Python ML model (timeline, progress, budget) served via API</a:t>
            </a:r>
          </a:p>
          <a:p>
            <a:r>
              <a:rPr lang="en-IN" sz="2400" dirty="0"/>
              <a:t>Real-time updates; status indicators (on-track, delayed, completed)</a:t>
            </a:r>
          </a:p>
          <a:p>
            <a:r>
              <a:rPr lang="en-IN" sz="2400" dirty="0"/>
              <a:t>RBAC: Admin (create), Official (update), Citizen (view/flag)</a:t>
            </a:r>
          </a:p>
          <a:p>
            <a:r>
              <a:rPr lang="en-IN" sz="2400" dirty="0"/>
              <a:t>Visualization: map + filters; logs and trend graphs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04652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F1214-E16B-9D71-85BA-A857BA81E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3782654-BAF0-5675-C629-5285984C1E6F}"/>
              </a:ext>
            </a:extLst>
          </p:cNvPr>
          <p:cNvSpPr/>
          <p:nvPr/>
        </p:nvSpPr>
        <p:spPr>
          <a:xfrm flipH="1">
            <a:off x="-24000" y="0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0F367AB3-B151-FBD3-F805-BEC14A878AB0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491A7158-1D7D-C630-8DB3-BA7367A8E62C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C5B87224-F47F-CFC5-05B3-17E557039DC6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0EC23A03-6BE9-D575-9658-C9713760DC72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BC3F04AF-76A3-54E6-B011-F683FBB05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9DDF40D-4FA1-CF3D-D1A5-EC9F9035B810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86D7F8E-85D3-88F5-2826-DD4087EAF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381000"/>
            <a:ext cx="5056176" cy="1143000"/>
          </a:xfr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5. DELIVERABLES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3606163-D68C-6A53-2F40-0E1872048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0" y="1706563"/>
            <a:ext cx="8229600" cy="4205064"/>
          </a:xfr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endParaRPr lang="en-IN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Deliverables:</a:t>
            </a:r>
            <a:endParaRPr lang="en-IN" dirty="0"/>
          </a:p>
          <a:p>
            <a:pPr lvl="1"/>
            <a:r>
              <a:rPr lang="en-IN" sz="2000" dirty="0"/>
              <a:t>Role-based dashboards + secure login.</a:t>
            </a:r>
          </a:p>
          <a:p>
            <a:pPr lvl="1"/>
            <a:r>
              <a:rPr lang="en-IN" sz="2000" dirty="0"/>
              <a:t>Interactive project map and logs.</a:t>
            </a:r>
          </a:p>
          <a:p>
            <a:pPr lvl="1"/>
            <a:r>
              <a:rPr lang="en-IN" sz="2000" dirty="0"/>
              <a:t>Delay prediction API + results</a:t>
            </a:r>
          </a:p>
          <a:p>
            <a:pPr lvl="1"/>
            <a:r>
              <a:rPr lang="en-IN" sz="2000" dirty="0"/>
              <a:t>Citizen issue reporting</a:t>
            </a:r>
          </a:p>
          <a:p>
            <a:pPr lvl="1"/>
            <a:r>
              <a:rPr lang="en-IN" sz="2000" dirty="0"/>
              <a:t>Use cases: official updates; citizen verification</a:t>
            </a:r>
          </a:p>
        </p:txBody>
      </p:sp>
      <p:pic>
        <p:nvPicPr>
          <p:cNvPr id="4098" name="Picture 2" descr="Image result for DELIVERABLES &amp; IMPACT">
            <a:extLst>
              <a:ext uri="{FF2B5EF4-FFF2-40B4-BE49-F238E27FC236}">
                <a16:creationId xmlns:a16="http://schemas.microsoft.com/office/drawing/2014/main" id="{E7F9F7BC-2ACE-1835-FD96-BE873A24F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76200"/>
            <a:ext cx="3503307" cy="2133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0863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08C3C-729F-143F-05F3-865EA8F17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1CCD5F9-022B-26B9-D016-E69F8FEAC27C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72CEAA36-4F98-A5E3-21EB-BCAB7CED6B84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C5EA508B-7601-7D7C-4332-009AFD3BBB86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69939A7F-AE7F-4489-33B4-6E679FF55AAC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C676C4CE-78D7-9CE5-4692-DB48A3FDA71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12694F44-B5EA-6865-A3EF-A31E817E0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5EBA65F-2C0D-D886-4D9F-5EC2AEA9BB82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1655146-E348-0106-92F9-9C4649A99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683" y="96915"/>
            <a:ext cx="8761017" cy="1143000"/>
          </a:xfr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Calibri Body"/>
              </a:rPr>
              <a:t>6. GROUP MEMBERS INDIVIDUAL RESPONSIBLITIES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18C51C5-9C17-F9FA-B0F8-F0EFD6910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6583" y="1371599"/>
            <a:ext cx="8786117" cy="5389485"/>
          </a:xfrm>
          <a:ln>
            <a:solidFill>
              <a:schemeClr val="bg1"/>
            </a:solidFill>
          </a:ln>
        </p:spPr>
        <p:style>
          <a:lnRef idx="2">
            <a:schemeClr val="dk1"/>
          </a:lnRef>
          <a:fillRef idx="100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IN" sz="2400" b="1" dirty="0"/>
              <a:t>Team Roles for AI-Based Delay Prediction and Transparency System for Public Project Management (Nirmaan.ai)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000" dirty="0"/>
              <a:t>🔹 </a:t>
            </a:r>
            <a:r>
              <a:rPr lang="en-IN" sz="2000" b="1" dirty="0" err="1"/>
              <a:t>Basangouda</a:t>
            </a:r>
            <a:r>
              <a:rPr lang="en-IN" sz="2000" b="1" dirty="0"/>
              <a:t> </a:t>
            </a:r>
            <a:r>
              <a:rPr lang="en-IN" sz="2000" b="1" dirty="0" err="1"/>
              <a:t>meti</a:t>
            </a:r>
            <a:r>
              <a:rPr lang="en-IN" sz="2000" b="1" dirty="0"/>
              <a:t> -</a:t>
            </a:r>
            <a:r>
              <a:rPr lang="en-IN" sz="2000" dirty="0"/>
              <a:t>  Data/ML: model training &amp; API</a:t>
            </a:r>
          </a:p>
          <a:p>
            <a:pPr>
              <a:buNone/>
            </a:pPr>
            <a:r>
              <a:rPr lang="en-IN" sz="2000" dirty="0"/>
              <a:t>🔹 </a:t>
            </a:r>
            <a:r>
              <a:rPr lang="en-IN" sz="2000" b="1" dirty="0"/>
              <a:t>C S </a:t>
            </a:r>
            <a:r>
              <a:rPr lang="en-IN" sz="2000" b="1" dirty="0" err="1"/>
              <a:t>Shivacharya</a:t>
            </a:r>
            <a:r>
              <a:rPr lang="en-IN" sz="2000" b="1" dirty="0"/>
              <a:t> -</a:t>
            </a:r>
            <a:r>
              <a:rPr lang="en-IN" sz="2000" dirty="0"/>
              <a:t> Frontend: dashboards, map, UX</a:t>
            </a:r>
          </a:p>
          <a:p>
            <a:pPr marL="0" indent="0">
              <a:buNone/>
            </a:pPr>
            <a:r>
              <a:rPr lang="en-IN" sz="2000" dirty="0"/>
              <a:t>🔹 </a:t>
            </a:r>
            <a:r>
              <a:rPr lang="en-IN" sz="2000" b="1" dirty="0"/>
              <a:t>Aditya S G - </a:t>
            </a:r>
            <a:r>
              <a:rPr lang="en-IN" sz="2000" dirty="0"/>
              <a:t>Backend: auth, projects, comments</a:t>
            </a:r>
            <a:endParaRPr lang="en-IN" sz="1400" dirty="0"/>
          </a:p>
          <a:p>
            <a:pPr marL="0" indent="0">
              <a:buNone/>
            </a:pPr>
            <a:r>
              <a:rPr lang="en-IN" sz="1800" dirty="0"/>
              <a:t>🔹 </a:t>
            </a:r>
            <a:r>
              <a:rPr lang="en-IN" sz="2000" b="1" dirty="0"/>
              <a:t>Chinmay K G -</a:t>
            </a:r>
            <a:r>
              <a:rPr lang="en-IN" sz="2000" dirty="0"/>
              <a:t> Docs &amp; testing: reports, PPT, QA</a:t>
            </a:r>
            <a:endParaRPr lang="en-IN" sz="1400" dirty="0"/>
          </a:p>
        </p:txBody>
      </p:sp>
      <p:pic>
        <p:nvPicPr>
          <p:cNvPr id="7175" name="Picture 7" descr="Team Leadership Roles">
            <a:extLst>
              <a:ext uri="{FF2B5EF4-FFF2-40B4-BE49-F238E27FC236}">
                <a16:creationId xmlns:a16="http://schemas.microsoft.com/office/drawing/2014/main" id="{951981DC-D55C-0842-D713-638685849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620" y="1731644"/>
            <a:ext cx="2809200" cy="35471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12072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4AEF8-18AF-18F0-E45E-D60757AF3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8B74F589-9A66-94B5-1180-5B4D564D850B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F4FCFC15-D64E-8C9B-22BE-D6E885CB27A0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D626AC31-B4AA-E8D5-82D6-98F13D85D267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D7F91C8B-C817-D443-43E8-92CBADA67DAE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03023165-CE5E-1DFB-4927-55952268613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6FFF3DED-B019-DD78-5FCE-91139F310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2C1CBED-A85F-4DA3-066C-B490D99F1A6E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19DF5FC-89E1-F486-EE1A-A6C03A305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583" y="381000"/>
            <a:ext cx="8761017" cy="1143000"/>
          </a:xfr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Calibri (Body)"/>
              </a:rPr>
              <a:t>7. GANTT CHART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CF95FE-0044-5C24-5693-7CAF7472E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630945"/>
              </p:ext>
            </p:extLst>
          </p:nvPr>
        </p:nvGraphicFramePr>
        <p:xfrm>
          <a:off x="2550250" y="1737358"/>
          <a:ext cx="8727352" cy="3825242"/>
        </p:xfrm>
        <a:graphic>
          <a:graphicData uri="http://schemas.openxmlformats.org/drawingml/2006/table">
            <a:tbl>
              <a:tblPr/>
              <a:tblGrid>
                <a:gridCol w="2181838">
                  <a:extLst>
                    <a:ext uri="{9D8B030D-6E8A-4147-A177-3AD203B41FA5}">
                      <a16:colId xmlns:a16="http://schemas.microsoft.com/office/drawing/2014/main" val="2263033388"/>
                    </a:ext>
                  </a:extLst>
                </a:gridCol>
                <a:gridCol w="2181838">
                  <a:extLst>
                    <a:ext uri="{9D8B030D-6E8A-4147-A177-3AD203B41FA5}">
                      <a16:colId xmlns:a16="http://schemas.microsoft.com/office/drawing/2014/main" val="3134592510"/>
                    </a:ext>
                  </a:extLst>
                </a:gridCol>
                <a:gridCol w="2181838">
                  <a:extLst>
                    <a:ext uri="{9D8B030D-6E8A-4147-A177-3AD203B41FA5}">
                      <a16:colId xmlns:a16="http://schemas.microsoft.com/office/drawing/2014/main" val="1187439472"/>
                    </a:ext>
                  </a:extLst>
                </a:gridCol>
                <a:gridCol w="2181838">
                  <a:extLst>
                    <a:ext uri="{9D8B030D-6E8A-4147-A177-3AD203B41FA5}">
                      <a16:colId xmlns:a16="http://schemas.microsoft.com/office/drawing/2014/main" val="2335153680"/>
                    </a:ext>
                  </a:extLst>
                </a:gridCol>
              </a:tblGrid>
              <a:tr h="4135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102398"/>
                  </a:ext>
                </a:extLst>
              </a:tr>
              <a:tr h="4135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945614"/>
                  </a:ext>
                </a:extLst>
              </a:tr>
              <a:tr h="4135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21375"/>
                  </a:ext>
                </a:extLst>
              </a:tr>
              <a:tr h="72369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712727"/>
                  </a:ext>
                </a:extLst>
              </a:tr>
              <a:tr h="72369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678799"/>
                  </a:ext>
                </a:extLst>
              </a:tr>
              <a:tr h="4135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694146"/>
                  </a:ext>
                </a:extLst>
              </a:tr>
              <a:tr h="72369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77906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05E9624-65EF-78AD-A808-30AB34DB47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138" y="1737358"/>
            <a:ext cx="8791575" cy="4343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9357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F1579-E698-9B04-A15D-E61E9BC79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13A333A7-C3C8-48C3-8AB0-FA2055B91205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0A25D679-2676-B697-D723-E86B6B3E2C6B}"/>
              </a:ext>
            </a:extLst>
          </p:cNvPr>
          <p:cNvSpPr/>
          <p:nvPr/>
        </p:nvSpPr>
        <p:spPr>
          <a:xfrm flipH="1">
            <a:off x="11496000" y="0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D529A9A7-D818-392F-2DB5-BB907E5B7B98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F7AF45D7-A7F4-EE63-6BB3-EDC5F32EF6BA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08801838-020A-894C-787D-6695ABEB6437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6918292C-7446-AC13-9C11-871A15300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AE25BAF-F86C-94FF-8708-A74166F9D54E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108EABF-50FE-E84C-F562-C1B7C7572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076" y="381000"/>
            <a:ext cx="4975199" cy="1143000"/>
          </a:xfr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8. REFERENCES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4ADFC5-D60D-54E6-27A9-746597E16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1577" y="2652936"/>
            <a:ext cx="8618187" cy="4205064"/>
          </a:xfr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dirty="0"/>
              <a:t>IEEE 2020 (</a:t>
            </a:r>
            <a:r>
              <a:rPr lang="en-IN" dirty="0" err="1"/>
              <a:t>IoT+ML</a:t>
            </a:r>
            <a:r>
              <a:rPr lang="en-IN" dirty="0"/>
              <a:t>), IJERT 2019 (GPS/Web)</a:t>
            </a:r>
          </a:p>
          <a:p>
            <a:r>
              <a:rPr lang="en-IN" dirty="0"/>
              <a:t>Springer 2021 (ML delays), Elsevier 2022 (Blockchain)</a:t>
            </a:r>
          </a:p>
          <a:p>
            <a:r>
              <a:rPr lang="en-IN" dirty="0" err="1"/>
              <a:t>Mapbox</a:t>
            </a:r>
            <a:r>
              <a:rPr lang="en-IN" dirty="0"/>
              <a:t>, </a:t>
            </a:r>
            <a:r>
              <a:rPr lang="en-IN" dirty="0" err="1"/>
              <a:t>Joblib</a:t>
            </a:r>
            <a:r>
              <a:rPr lang="en-IN" dirty="0"/>
              <a:t>, JWT, Node/Express docs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6146" name="Picture 2" descr="Image result for references">
            <a:extLst>
              <a:ext uri="{FF2B5EF4-FFF2-40B4-BE49-F238E27FC236}">
                <a16:creationId xmlns:a16="http://schemas.microsoft.com/office/drawing/2014/main" id="{3B0BAA01-1AFE-8CD8-E4B9-EC51781C9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062" y="44403"/>
            <a:ext cx="3743325" cy="21145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49820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9D4FA-80C3-F663-36CD-87AE086AF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A6AED363-310B-F382-16D6-AB6C6DF99173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1DE04FCC-6408-4E88-EE80-39392C3C43BC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2509F1E7-EB11-B442-05FA-C9719B2A3572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B7ABCD3D-C499-A090-32BB-B07BE9CB3E2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F4464B3B-D20D-CE4D-1ACA-DC7A3716E975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89B10BD2-EFB4-D416-3AC5-5CEE52D8E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8445227-3237-779D-FAD5-04A0051D3FB8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CBED0FE-EF27-99B4-11BC-B43AE893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583" y="381000"/>
            <a:ext cx="8761017" cy="1143000"/>
          </a:xfr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Calibri (Body)"/>
              </a:rPr>
              <a:t>Demonstration 1 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A86B0955-2935-B111-F8B8-292E41B2B2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07555" y="2383573"/>
            <a:ext cx="822959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Project Monitoring: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/>
              <a:t>Uses AI to </a:t>
            </a:r>
            <a:r>
              <a:rPr lang="en-IN" sz="2000" dirty="0" err="1"/>
              <a:t>analyze</a:t>
            </a:r>
            <a:r>
              <a:rPr lang="en-IN" sz="2000" dirty="0"/>
              <a:t> site images and project data.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/>
              <a:t>Automatically predicts </a:t>
            </a:r>
            <a:r>
              <a:rPr lang="en-IN" sz="2000" b="1" dirty="0"/>
              <a:t>construction stages</a:t>
            </a:r>
            <a:r>
              <a:rPr lang="en-IN" sz="2000" dirty="0"/>
              <a:t> and potential </a:t>
            </a:r>
            <a:r>
              <a:rPr lang="en-IN" sz="2000" b="1" dirty="0"/>
              <a:t>delays</a:t>
            </a:r>
            <a:r>
              <a:rPr lang="en-IN" sz="2000" dirty="0"/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Stage Classification: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/>
              <a:t>System classifies projects into </a:t>
            </a:r>
            <a:r>
              <a:rPr lang="en-IN" sz="2000" b="1" dirty="0"/>
              <a:t>6 distinct stages</a:t>
            </a:r>
            <a:r>
              <a:rPr lang="en-IN" sz="2000" dirty="0"/>
              <a:t> of construction.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/>
              <a:t> Achieves </a:t>
            </a:r>
            <a:r>
              <a:rPr lang="en-IN" sz="2000" b="1" dirty="0"/>
              <a:t>85% average prediction confidence</a:t>
            </a:r>
            <a:r>
              <a:rPr lang="en-IN" sz="2000" dirty="0"/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2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Project Insights Dashboard: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/>
              <a:t>Centralized view of </a:t>
            </a:r>
            <a:r>
              <a:rPr lang="en-IN" sz="2000" b="1" dirty="0"/>
              <a:t>project details, comments, and AI predictions</a:t>
            </a:r>
            <a:r>
              <a:rPr lang="en-IN" sz="2000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/>
              <a:t>Simplifies project management by consolidating everything in </a:t>
            </a:r>
            <a:r>
              <a:rPr lang="en-IN" sz="2000" b="1" dirty="0"/>
              <a:t>one place</a:t>
            </a:r>
            <a:r>
              <a:rPr lang="en-IN" sz="2000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/>
              <a:t>Improves transparency and accountability across all stakeholders.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26424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58298-4450-64A8-F4E3-5841D3E1B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8B0E167D-8AF5-839F-5BCF-1F67F6EFE3B4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22A92AF1-B748-97B5-62F9-93403065569E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E16404B5-67A9-10AD-2A5C-2A549974938F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86C6700B-B581-E497-8830-0CDD7E94B3E6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E5732226-7831-FA7E-6361-2D2E6666D07D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099F71B0-A704-4300-648B-39B254184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355186F-F1DF-3BD7-C3CF-09DCEDEA03EA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4DF030F-D9DC-B1D4-39C1-CE038C55A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583" y="381000"/>
            <a:ext cx="8761017" cy="1143000"/>
          </a:xfr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Calibri (Body)"/>
              </a:rPr>
              <a:t>Demonstration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5B9968-BE2D-F7C9-6B88-1BF422032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656" y="1896439"/>
            <a:ext cx="8378878" cy="43513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35289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D91CC-8457-3C1D-BD79-388CAB405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111DAA54-3348-FCD3-7E18-7A287F83B715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ED126B9B-781B-76D6-7B8B-65482190D663}"/>
              </a:ext>
            </a:extLst>
          </p:cNvPr>
          <p:cNvSpPr/>
          <p:nvPr/>
        </p:nvSpPr>
        <p:spPr>
          <a:xfrm flipH="1">
            <a:off x="11543323" y="0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7EC4C35A-0C11-9C69-0412-25A221FCE6A4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9182301C-F5C4-3B6C-A4E7-4CA26487A2E0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3A66B0F3-80B8-BCAF-D3EE-99A840F5D465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id="{A1C18A2C-DF91-BCEA-B940-0D9D6B520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47CAC03-4526-FBDD-FA9C-6231D3E373D2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B9C6472-802D-0AE2-F2F6-B464A1081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583" y="381000"/>
            <a:ext cx="8761017" cy="1143000"/>
          </a:xfrm>
          <a:solidFill>
            <a:schemeClr val="accent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Calibri (Body)"/>
              </a:rPr>
              <a:t>Demonstration 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63549A-F8AF-EE26-8DA5-7F99F7E17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231521"/>
              </p:ext>
            </p:extLst>
          </p:nvPr>
        </p:nvGraphicFramePr>
        <p:xfrm>
          <a:off x="2550250" y="1737358"/>
          <a:ext cx="6060352" cy="4815842"/>
        </p:xfrm>
        <a:graphic>
          <a:graphicData uri="http://schemas.openxmlformats.org/drawingml/2006/table">
            <a:tbl>
              <a:tblPr/>
              <a:tblGrid>
                <a:gridCol w="1515088">
                  <a:extLst>
                    <a:ext uri="{9D8B030D-6E8A-4147-A177-3AD203B41FA5}">
                      <a16:colId xmlns:a16="http://schemas.microsoft.com/office/drawing/2014/main" val="2263033388"/>
                    </a:ext>
                  </a:extLst>
                </a:gridCol>
                <a:gridCol w="1515088">
                  <a:extLst>
                    <a:ext uri="{9D8B030D-6E8A-4147-A177-3AD203B41FA5}">
                      <a16:colId xmlns:a16="http://schemas.microsoft.com/office/drawing/2014/main" val="3134592510"/>
                    </a:ext>
                  </a:extLst>
                </a:gridCol>
                <a:gridCol w="1515088">
                  <a:extLst>
                    <a:ext uri="{9D8B030D-6E8A-4147-A177-3AD203B41FA5}">
                      <a16:colId xmlns:a16="http://schemas.microsoft.com/office/drawing/2014/main" val="1187439472"/>
                    </a:ext>
                  </a:extLst>
                </a:gridCol>
                <a:gridCol w="1515088">
                  <a:extLst>
                    <a:ext uri="{9D8B030D-6E8A-4147-A177-3AD203B41FA5}">
                      <a16:colId xmlns:a16="http://schemas.microsoft.com/office/drawing/2014/main" val="2335153680"/>
                    </a:ext>
                  </a:extLst>
                </a:gridCol>
              </a:tblGrid>
              <a:tr h="413540"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102398"/>
                  </a:ext>
                </a:extLst>
              </a:tr>
              <a:tr h="413540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945614"/>
                  </a:ext>
                </a:extLst>
              </a:tr>
              <a:tr h="413540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21375"/>
                  </a:ext>
                </a:extLst>
              </a:tr>
              <a:tr h="723694"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712727"/>
                  </a:ext>
                </a:extLst>
              </a:tr>
              <a:tr h="723694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678799"/>
                  </a:ext>
                </a:extLst>
              </a:tr>
              <a:tr h="413540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694146"/>
                  </a:ext>
                </a:extLst>
              </a:tr>
              <a:tr h="1714294"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779066"/>
                  </a:ext>
                </a:extLst>
              </a:tr>
            </a:tbl>
          </a:graphicData>
        </a:graphic>
      </p:graphicFrame>
      <p:sp>
        <p:nvSpPr>
          <p:cNvPr id="15" name="Rectangle 1">
            <a:extLst>
              <a:ext uri="{FF2B5EF4-FFF2-40B4-BE49-F238E27FC236}">
                <a16:creationId xmlns:a16="http://schemas.microsoft.com/office/drawing/2014/main" id="{4A5D1BD6-9379-6350-BBE7-442925D27C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3570" y="1944677"/>
            <a:ext cx="509231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Track Progress (AI Predictor)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I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Users upload a site photo.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I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 instantly predicts stage, confidence level, and estimated progress.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/>
              <a:t>Provides </a:t>
            </a:r>
            <a:r>
              <a:rPr lang="en-IN" sz="2000" b="1" dirty="0"/>
              <a:t>real-time updates</a:t>
            </a:r>
            <a:r>
              <a:rPr lang="en-IN" sz="2000" dirty="0"/>
              <a:t> without manual supervision.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Role-Based Access &amp; Accounts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I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Citizens → can track local project progress.</a:t>
            </a:r>
            <a:endParaRPr lang="en-US" altLang="en-US" sz="2000" dirty="0"/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Officials → access detailed dashboards.</a:t>
            </a:r>
            <a:endParaRPr lang="en-US" altLang="en-US" sz="2000" dirty="0"/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000" dirty="0"/>
              <a:t>Admins → manage roles, permissions, and insights.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2000" dirty="0"/>
              <a:t>Personalized, secure, and role-specific dashboards.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5C571A-6966-8192-5A49-82F46D386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4159" y="2066513"/>
            <a:ext cx="3863976" cy="38929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6622194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001B48F-DDDC-4880-B272-8B559EB83017}">
  <we:reference id="wa104379997" version="3.0.0.0" store="en-US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823</Words>
  <Application>Microsoft Office PowerPoint</Application>
  <PresentationFormat>Widescreen</PresentationFormat>
  <Paragraphs>154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Arial</vt:lpstr>
      <vt:lpstr>Calibri</vt:lpstr>
      <vt:lpstr>Calibri (Body)</vt:lpstr>
      <vt:lpstr>Calibri Body</vt:lpstr>
      <vt:lpstr>Calibri Light</vt:lpstr>
      <vt:lpstr>Futura Cyrillic Book</vt:lpstr>
      <vt:lpstr>Times New Roman</vt:lpstr>
      <vt:lpstr>Wingdings</vt:lpstr>
      <vt:lpstr>1_Custom Design</vt:lpstr>
      <vt:lpstr>Custom Design</vt:lpstr>
      <vt:lpstr>2_Custom Design</vt:lpstr>
      <vt:lpstr>3_Custom Design</vt:lpstr>
      <vt:lpstr>PowerPoint Presentation</vt:lpstr>
      <vt:lpstr>  AI-Based Delay Prediction and Transparency System for Public Project Management (Nirmaan.ai)  </vt:lpstr>
      <vt:lpstr>1. INTRODUCTION</vt:lpstr>
      <vt:lpstr>2. LITERATURE SURVEY</vt:lpstr>
      <vt:lpstr>3. PROBLEM STATEMENT &amp; OBJECTIVES</vt:lpstr>
      <vt:lpstr>4. PROPOSED METHODOLOGY</vt:lpstr>
      <vt:lpstr>5. DELIVERABLES </vt:lpstr>
      <vt:lpstr>6. GROUP MEMBERS INDIVIDUAL RESPONSIBLITIES</vt:lpstr>
      <vt:lpstr>7. GANTT CHART</vt:lpstr>
      <vt:lpstr>8. REFERENCES</vt:lpstr>
      <vt:lpstr>Demonstration 1 </vt:lpstr>
      <vt:lpstr>Demonstration 2</vt:lpstr>
      <vt:lpstr>Demonstration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Principal aip</dc:creator>
  <cp:lastModifiedBy>Basanagouda Meti</cp:lastModifiedBy>
  <cp:revision>99</cp:revision>
  <dcterms:created xsi:type="dcterms:W3CDTF">2021-09-07T04:22:00Z</dcterms:created>
  <dcterms:modified xsi:type="dcterms:W3CDTF">2025-09-22T12:20:54Z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0398283ACE364599A240D38F3F474187_13</vt:lpwstr>
  </property>
  <property fmtid="{D5CDD505-2E9C-101B-9397-08002B2CF9AE}" pid="3" name="KSOProductBuildVer">
    <vt:lpwstr>1033-12.2.0.13489</vt:lpwstr>
  </property>
</Properties>
</file>